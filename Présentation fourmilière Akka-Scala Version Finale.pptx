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D8q4rMaDrTR1xcLP3OqCx8p5k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636EE636-40B3-4114-5E34-49A4BE817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>
            <a:extLst>
              <a:ext uri="{FF2B5EF4-FFF2-40B4-BE49-F238E27FC236}">
                <a16:creationId xmlns:a16="http://schemas.microsoft.com/office/drawing/2014/main" id="{2B0C7296-C398-01F4-585A-A3A2FED0E5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2:notes">
            <a:extLst>
              <a:ext uri="{FF2B5EF4-FFF2-40B4-BE49-F238E27FC236}">
                <a16:creationId xmlns:a16="http://schemas.microsoft.com/office/drawing/2014/main" id="{5FE7BBF9-7F40-B200-BD98-A2B9FC4828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2:notes">
            <a:extLst>
              <a:ext uri="{FF2B5EF4-FFF2-40B4-BE49-F238E27FC236}">
                <a16:creationId xmlns:a16="http://schemas.microsoft.com/office/drawing/2014/main" id="{9B1EBF17-166C-F9D0-46A1-A404E4F6C9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04094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9" name="Google Shape;40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7" name="Google Shape;54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3474720"/>
            <a:ext cx="9144000" cy="17373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57200" y="4114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Modelisation et Verification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d'une Application Critique Distribuee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BC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A0C4BC"/>
                </a:solidFill>
                <a:latin typeface="Calibri"/>
                <a:ea typeface="Calibri"/>
                <a:cs typeface="Calibri"/>
                <a:sym typeface="Calibri"/>
              </a:rPr>
              <a:t>avec Akka, Scala et Reseaux de Petri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358444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Systeme : Colonie de fourmis (Ant Colony)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D4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D4CC"/>
                </a:solidFill>
                <a:latin typeface="Calibri"/>
                <a:ea typeface="Calibri"/>
                <a:cs typeface="Calibri"/>
                <a:sym typeface="Calibri"/>
              </a:rPr>
              <a:t>CY Cergy Paris Universite — Programmation Fonctionnelle 2026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Plan de la presentation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731520"/>
            <a:ext cx="402336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57200" y="731520"/>
            <a:ext cx="548640" cy="11887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" y="731520"/>
            <a:ext cx="5486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97280" y="8686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Contexte &amp; motivation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97280" y="129844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Systeme critique distribue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2148840"/>
            <a:ext cx="402336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57200" y="2148840"/>
            <a:ext cx="548640" cy="11887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57200" y="2148840"/>
            <a:ext cx="5486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97280" y="22860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Etat de l'art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97280" y="271576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Petri, LTL, modele d'acteurs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3566160"/>
            <a:ext cx="402336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57200" y="3566160"/>
            <a:ext cx="548640" cy="11887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57200" y="3566160"/>
            <a:ext cx="5486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097280" y="37033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Akka/Scala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097280" y="413308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acteurs, messages, invariants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846320" y="731520"/>
            <a:ext cx="402336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846320" y="731520"/>
            <a:ext cx="548640" cy="11887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846320" y="731520"/>
            <a:ext cx="5486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86400" y="8686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Reseau de Petri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86400" y="129844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Places, transitions, marquage M0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846320" y="2148840"/>
            <a:ext cx="402336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846320" y="2148840"/>
            <a:ext cx="548640" cy="11887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846320" y="2148840"/>
            <a:ext cx="5486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486400" y="22860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Verification des proprietes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486400" y="271576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Surete, vivacite, LTL, deadlocks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846320" y="3566160"/>
            <a:ext cx="402336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846320" y="3566160"/>
            <a:ext cx="548640" cy="11887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846320" y="3566160"/>
            <a:ext cx="5486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486400" y="37033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Simulation comparee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486400" y="413308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Logs JSON vs modele formel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66E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 — Contexte &amp; motivation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Contexte — Pourquoi une colonie de fourmis 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1A2B4A"/>
                </a:solidFill>
                <a:latin typeface="Trebuchet MS"/>
                <a:ea typeface="Trebuchet MS"/>
                <a:cs typeface="Trebuchet MS"/>
                <a:sym typeface="Trebuchet MS"/>
              </a:rPr>
              <a:t>Un systeme naturellement distribue et critique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365760" y="1234440"/>
            <a:ext cx="4114800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65760" y="1234440"/>
            <a:ext cx="64008" cy="137160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521208" y="1325880"/>
            <a:ext cx="38679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Concurrent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21208" y="1709928"/>
            <a:ext cx="3867912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Plusieurs fourmis agissent en parallele sans memoire partagee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754880" y="1234440"/>
            <a:ext cx="4114800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754880" y="1234440"/>
            <a:ext cx="64008" cy="1371600"/>
          </a:xfrm>
          <a:prstGeom prst="rect">
            <a:avLst/>
          </a:prstGeom>
          <a:solidFill>
            <a:srgbClr val="B45309"/>
          </a:solidFill>
          <a:ln w="12700" cap="flat" cmpd="sng">
            <a:solidFill>
              <a:srgbClr val="B453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910328" y="1325880"/>
            <a:ext cx="38679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Critique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910328" y="1709928"/>
            <a:ext cx="3867912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Invariant cle : si la Reine meurt (hunger &gt; 10), toute la colonie s'effondre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65760" y="2788920"/>
            <a:ext cx="4114800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365760" y="2788920"/>
            <a:ext cx="64008" cy="137160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521208" y="2880360"/>
            <a:ext cx="38679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Distribue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21208" y="3264408"/>
            <a:ext cx="3867912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Pas de chef central — chaque fourmi agit de facon autonome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754880" y="2788920"/>
            <a:ext cx="4114800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754880" y="2788920"/>
            <a:ext cx="64008" cy="137160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910328" y="2880360"/>
            <a:ext cx="38679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Verifiable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910328" y="3264408"/>
            <a:ext cx="3867912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Comportements formalisables en reseau de Petri avec proprietes LTL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0F766E"/>
                </a:solidFill>
                <a:latin typeface="Trebuchet MS"/>
                <a:ea typeface="Trebuchet MS"/>
                <a:cs typeface="Trebuchet MS"/>
                <a:sym typeface="Trebuchet MS"/>
              </a:rPr>
              <a:t>=&gt; Modele d'acteurs Akka : chaque fourmi = un acteur independant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66E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 — Etat de l'art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Reseaux de Petri — concepts fondamentaux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65760" y="685800"/>
            <a:ext cx="475488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365760" y="685800"/>
            <a:ext cx="64008" cy="11887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521208" y="777240"/>
            <a:ext cx="45079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Place (cercle)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21208" y="1161288"/>
            <a:ext cx="4507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Etat possible : 'Fourrageuse idle', 'Stock nourriture', 'Oeuf en incubation'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365760" y="2057400"/>
            <a:ext cx="475488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365760" y="2057400"/>
            <a:ext cx="64008" cy="11887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521208" y="2148840"/>
            <a:ext cx="45079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Transition (rectangle)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21208" y="2532888"/>
            <a:ext cx="4507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Evenement/action : 'SearchFood', 'DepositFood', 'EggHatched'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365760" y="3429000"/>
            <a:ext cx="4754880" cy="11887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365760" y="3429000"/>
            <a:ext cx="64008" cy="118872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521208" y="3520440"/>
            <a:ext cx="45079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Jeton (point)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21208" y="3904488"/>
            <a:ext cx="4507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Unite active : une fourmi precise, une unite de nourriture en stock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303520" y="685800"/>
            <a:ext cx="3566160" cy="4114800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394960" y="7772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Regle de franchissement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394960" y="118872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Une transition se declenche si toutes ses places d'entree ont assez de jetons. Elle consomme des jetons en entree et en produit en sortie.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394960" y="24688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Correspondance dans leur code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394960" y="2880360"/>
            <a:ext cx="33832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Place  =  Behavior (etat de l'acteur)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Transition  =  Reception d'un message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Jeton  =  Instance d'acteur active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Garde  =  if (hunger &lt; MaxHunger)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Logique temporelle lineaire (LTL) — 4 operateurs fixes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274320" y="731520"/>
            <a:ext cx="4114800" cy="17373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274320" y="731520"/>
            <a:ext cx="64008" cy="17373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29768" y="8229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G — Globally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29768" y="11887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Toujours vrai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29768" y="1536192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G (hunger &lt;= MaxHunger)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La faim de la reine ne depasse jamais 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663440" y="731520"/>
            <a:ext cx="4114800" cy="17373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663440" y="731520"/>
            <a:ext cx="64008" cy="17373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4818888" y="8229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F — Finally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818888" y="11887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Finalement vrai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818888" y="1536192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F (FeedQueen)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Si la reine a faim, elle sera nourrie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274320" y="2651760"/>
            <a:ext cx="4114800" cy="17373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274320" y="2651760"/>
            <a:ext cx="64008" cy="1737360"/>
          </a:xfrm>
          <a:prstGeom prst="rect">
            <a:avLst/>
          </a:prstGeom>
          <a:solidFill>
            <a:srgbClr val="B45309"/>
          </a:solidFill>
          <a:ln w="12700" cap="flat" cmpd="sng">
            <a:solidFill>
              <a:srgbClr val="B453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429768" y="27432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X — neXt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29768" y="31089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Vrai a l'etat suivant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29768" y="3456432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X (nb_oeufs + 1)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Apres un Tick, un oeuf de plus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663440" y="2651760"/>
            <a:ext cx="4114800" cy="17373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663440" y="2651760"/>
            <a:ext cx="64008" cy="1737360"/>
          </a:xfrm>
          <a:prstGeom prst="rect">
            <a:avLst/>
          </a:prstGeom>
          <a:solidFill>
            <a:srgbClr val="B45309"/>
          </a:solidFill>
          <a:ln w="12700" cap="flat" cmpd="sng">
            <a:solidFill>
              <a:srgbClr val="B453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818888" y="27432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U — Until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818888" y="31089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phi jusqu'a psi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818888" y="3456432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idle U SearchFood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La fourmi reste idle jusqu'a agir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66E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 — Architecture Akka/Scala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Architecture — 5 acteurs, 1 hierarchie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3017520" y="685800"/>
            <a:ext cx="3108960" cy="914400"/>
          </a:xfrm>
          <a:prstGeom prst="rect">
            <a:avLst/>
          </a:prstGeom>
          <a:solidFill>
            <a:srgbClr val="4C1D95"/>
          </a:solidFill>
          <a:ln w="12700" cap="flat" cmpd="sng">
            <a:solidFill>
              <a:srgbClr val="4C1D9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3017520" y="6858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QueenActor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3017520" y="11430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hunger · ponte · supervision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274320" y="2011680"/>
            <a:ext cx="2011680" cy="86868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274320" y="202996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ForagerAntActor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274320" y="246888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idle → resting → restingWaiting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9"/>
          <p:cNvCxnSpPr/>
          <p:nvPr/>
        </p:nvCxnSpPr>
        <p:spPr>
          <a:xfrm>
            <a:off x="1280160" y="1600200"/>
            <a:ext cx="0" cy="411480"/>
          </a:xfrm>
          <a:prstGeom prst="straightConnector1">
            <a:avLst/>
          </a:prstGeom>
          <a:noFill/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3" name="Google Shape;173;p9"/>
          <p:cNvSpPr/>
          <p:nvPr/>
        </p:nvSpPr>
        <p:spPr>
          <a:xfrm>
            <a:off x="2423160" y="2011680"/>
            <a:ext cx="2011680" cy="868680"/>
          </a:xfrm>
          <a:prstGeom prst="rect">
            <a:avLst/>
          </a:prstGeom>
          <a:solidFill>
            <a:srgbClr val="0369A1"/>
          </a:solidFill>
          <a:ln w="12700" cap="flat" cmpd="sng">
            <a:solidFill>
              <a:srgbClr val="036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2423160" y="202996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CarrierAntActor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2423160" y="246888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idle → waiting → resting → restingWaiting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9"/>
          <p:cNvCxnSpPr/>
          <p:nvPr/>
        </p:nvCxnSpPr>
        <p:spPr>
          <a:xfrm>
            <a:off x="3429000" y="1600200"/>
            <a:ext cx="0" cy="411480"/>
          </a:xfrm>
          <a:prstGeom prst="straightConnector1">
            <a:avLst/>
          </a:prstGeom>
          <a:noFill/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7" name="Google Shape;177;p9"/>
          <p:cNvSpPr/>
          <p:nvPr/>
        </p:nvSpPr>
        <p:spPr>
          <a:xfrm>
            <a:off x="4572000" y="2011680"/>
            <a:ext cx="2011680" cy="868680"/>
          </a:xfrm>
          <a:prstGeom prst="rect">
            <a:avLst/>
          </a:prstGeom>
          <a:solidFill>
            <a:srgbClr val="B45309"/>
          </a:solidFill>
          <a:ln w="12700" cap="flat" cmpd="sng">
            <a:solidFill>
              <a:srgbClr val="B453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4572000" y="202996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EggActor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572000" y="246888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incubating (2 ticks) → eclosion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9"/>
          <p:cNvCxnSpPr/>
          <p:nvPr/>
        </p:nvCxnSpPr>
        <p:spPr>
          <a:xfrm>
            <a:off x="5577840" y="1600200"/>
            <a:ext cx="0" cy="411480"/>
          </a:xfrm>
          <a:prstGeom prst="straightConnector1">
            <a:avLst/>
          </a:prstGeom>
          <a:noFill/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9"/>
          <p:cNvSpPr/>
          <p:nvPr/>
        </p:nvSpPr>
        <p:spPr>
          <a:xfrm>
            <a:off x="6720840" y="2011680"/>
            <a:ext cx="2011680" cy="868680"/>
          </a:xfrm>
          <a:prstGeom prst="rect">
            <a:avLst/>
          </a:prstGeom>
          <a:solidFill>
            <a:srgbClr val="15803D"/>
          </a:solidFill>
          <a:ln w="12700" cap="flat" cmpd="sng">
            <a:solidFill>
              <a:srgbClr val="1580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6720840" y="202996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StorageActor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720840" y="246888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stock borne [0, 20]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9"/>
          <p:cNvCxnSpPr/>
          <p:nvPr/>
        </p:nvCxnSpPr>
        <p:spPr>
          <a:xfrm>
            <a:off x="7726680" y="1600200"/>
            <a:ext cx="0" cy="411480"/>
          </a:xfrm>
          <a:prstGeom prst="straightConnector1">
            <a:avLst/>
          </a:prstGeom>
          <a:noFill/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" name="Google Shape;185;p9"/>
          <p:cNvSpPr/>
          <p:nvPr/>
        </p:nvSpPr>
        <p:spPr>
          <a:xfrm>
            <a:off x="274320" y="3063240"/>
            <a:ext cx="8595360" cy="1691640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Flux de messages principaux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57200" y="3493008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ForagerAntActor  --DepositFood(n)--&gt;  StorageActor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57200" y="3730752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CarrierAntActor  --RequestFood(max, replyTo)--&gt;  StorageActor  --FoodReady(n)--&gt;  CarrierAntActor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57200" y="3968496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CarrierAntActor  --FeedQueen(amount)--&gt;  QueenActor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57200" y="420624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EggActor  --SpawnAnt(Forager|Carrier)--&gt;  QueenActor  --&gt;  spawn nouvelle fourmi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4443984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Fourmi morte  --AntDied(antType, id)--&gt;  QueenActor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Detail des acteurs — etats et comportements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274320" y="640080"/>
            <a:ext cx="4206240" cy="205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274320" y="640080"/>
            <a:ext cx="4206240" cy="365760"/>
          </a:xfrm>
          <a:prstGeom prst="rect">
            <a:avLst/>
          </a:prstGeom>
          <a:solidFill>
            <a:srgbClr val="4C1D95"/>
          </a:solidFill>
          <a:ln w="12700" cap="flat" cmpd="sng">
            <a:solidFill>
              <a:srgbClr val="4C1D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365760" y="658368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QueenActor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365760" y="105156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Etats : hunger (0-10) · foragerCount · carrierCount · eggs: List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365760" y="1508760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Tick → hunger+1. Si hunger &gt; MaxHunger=10 → mort colonie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FeedQueen(n) → hunger-n (min 0)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SpawnAnt → spawn si quota non atteint (max 4 par type)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AntDied → decremente le compteur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365760" y="235915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Invariant critique : hunger &lt;= 10 verifie a chaque Tick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754880" y="640080"/>
            <a:ext cx="4206240" cy="205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4754880" y="640080"/>
            <a:ext cx="4206240" cy="3657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4846320" y="658368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ForagerAntActor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846320" y="105156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Etats : idle → resting → restingWaiting → idle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starvation: Int (max 3 avant mort)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846320" y="1508760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SearchFood toutes les 6s → trouve 1-3 unites → DepositFood au stockage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AntTick toutes les 4s → ConsumeFood au repos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 StorageEmpty x3 → AntDied + Behaviors.stopped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846320" y="235915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Surveille la Reine via watch() — s'arrete si la Reine meurt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274320" y="2834640"/>
            <a:ext cx="4206240" cy="205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274320" y="2834640"/>
            <a:ext cx="4206240" cy="365760"/>
          </a:xfrm>
          <a:prstGeom prst="rect">
            <a:avLst/>
          </a:prstGeom>
          <a:solidFill>
            <a:srgbClr val="0369A1"/>
          </a:solidFill>
          <a:ln w="12700" cap="flat" cmpd="sng">
            <a:solidFill>
              <a:srgbClr val="036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365760" y="2852928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CarrierAntActor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365760" y="324612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Etats : idle → waiting → resting → restingWaiting → idle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starvation: Int (max 3 avant mort)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365760" y="3703320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SearchFood toutes les 2s → RequestFood(CarryCapacity=2) au stockage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 FoodReady → FeedQueen(amount) → repos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 StorageEmpty → retour idle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365760" y="455371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CarryCapacity = 2 unites par livraison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754880" y="2834640"/>
            <a:ext cx="4206240" cy="205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4754880" y="2834640"/>
            <a:ext cx="4206240" cy="365760"/>
          </a:xfrm>
          <a:prstGeom prst="rect">
            <a:avLst/>
          </a:prstGeom>
          <a:solidFill>
            <a:srgbClr val="B45309"/>
          </a:solidFill>
          <a:ln w="12700" cap="flat" cmpd="sng">
            <a:solidFill>
              <a:srgbClr val="B453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4846320" y="2852928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EggActor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846320" y="324612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Etats : incubating (cyclesLeft = 2) → eclot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846320" y="3703320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Recoit Tick relaye par la Reine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chaque Tick : cyclesLeft - 1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Quand cyclesLeft = 0 : type aleatoire (Forager ou Carrier)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 SpawnAnt(antType) a la Reine → Behaviors.stopped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4846320" y="455371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2 oeufs pondes a chaque Tick de la Reine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Invariants metier — Invariants.scala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365760" y="62179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1A2B4A"/>
                </a:solidFill>
                <a:latin typeface="Trebuchet MS"/>
                <a:ea typeface="Trebuchet MS"/>
                <a:cs typeface="Trebuchet MS"/>
                <a:sym typeface="Trebuchet MS"/>
              </a:rPr>
              <a:t>7 invariants verifies en temps reel dans le code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274320" y="1115568"/>
            <a:ext cx="8595360" cy="475488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365760" y="11612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I1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777240" y="116128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hungerIsNonNegative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2743200" y="116128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G (hunger &gt;= 0)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4800600" y="116128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faim de la Reine ne peut pas etre negative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7315200" y="116128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Verifie a chaque Tick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274320" y="1627632"/>
            <a:ext cx="8595360" cy="4754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365760" y="16733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I2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777240" y="1673352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hungerBelowMax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2743200" y="167335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G (hunger &lt;= 10)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4800600" y="167335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faim ne depasse jamais MaxHunger=10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7315200" y="167335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Verifie a chaque Tick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274320" y="2139696"/>
            <a:ext cx="8595360" cy="475488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365760" y="218541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I3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777240" y="2185416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stockIsNonNegative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2743200" y="218541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G (stock &gt;= 0)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4800600" y="218541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stock ne peut jamais etre negatif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7315200" y="218541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Verifie a chaque DepositFood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274320" y="2651760"/>
            <a:ext cx="8595360" cy="4754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365760" y="26974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I4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777240" y="26974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stockBelowCapacity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2743200" y="26974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G (stock &lt;= 20)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800600" y="26974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stock ne depasse pas MaxCapacity=20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7315200" y="26974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Verifie a chaque DepositFood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274320" y="3163824"/>
            <a:ext cx="8595360" cy="475488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365760" y="32095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I5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777240" y="32095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foragerCountValid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2743200" y="320954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G (0 &lt;= foragers &lt;= 4)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800600" y="3209544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Max 4 fourrageuses simultanement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7315200" y="3209544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Verifie a chaque SpawnAnt/AntDied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274320" y="3675888"/>
            <a:ext cx="8595360" cy="4754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365760" y="37216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I6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777240" y="372160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carrierCountValid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2743200" y="372160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G (0 &lt;= carriers &lt;= 4)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4800600" y="372160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Max 4 transporteuses simultanement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7315200" y="372160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Verifie a chaque SpawnAnt/AntDied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274320" y="4187952"/>
            <a:ext cx="8595360" cy="475488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365760" y="42336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I7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777240" y="4233672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queenIsAlive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2743200" y="423367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G (alive &lt;-&gt; hunger &lt; 10)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4800600" y="423367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Reine vivante ssi faim dans les bornes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7315200" y="42336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Combinaison I1 + I2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365760" y="472744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 une violation est detectee → log dans simulation_log.jsonl + warning console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66E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 — Reseau de Petri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81">
          <a:extLst>
            <a:ext uri="{FF2B5EF4-FFF2-40B4-BE49-F238E27FC236}">
              <a16:creationId xmlns:a16="http://schemas.microsoft.com/office/drawing/2014/main" id="{D4CC0133-83DA-32B3-BAB9-30831CE5D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6D413A-56D5-B9E0-04CA-A3CB364EFD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16" r="2" b="24503"/>
          <a:stretch>
            <a:fillRect/>
          </a:stretch>
        </p:blipFill>
        <p:spPr>
          <a:xfrm>
            <a:off x="342900" y="334537"/>
            <a:ext cx="8458200" cy="446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74471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Reseau de Petri — places et transitions (petri.scala)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274320" y="59436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0F766E"/>
                </a:solidFill>
                <a:latin typeface="Trebuchet MS"/>
                <a:ea typeface="Trebuchet MS"/>
                <a:cs typeface="Trebuchet MS"/>
                <a:sym typeface="Trebuchet MS"/>
              </a:rPr>
              <a:t>Places (17)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274320" y="1005840"/>
            <a:ext cx="4297680" cy="329184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347472" y="103327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queen_alive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2514600" y="103327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Reine vivante (hunger in [0,10])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4297680" y="103327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274320" y="1353312"/>
            <a:ext cx="429768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347472" y="138074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queen_dead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2514600" y="138074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Reine morte (hunger &gt; 10)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4297680" y="138074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274320" y="1700784"/>
            <a:ext cx="4297680" cy="329184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347472" y="172821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queen_sated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2514600" y="172821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Reine rassasiee (hunger = 0)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4297680" y="172821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274320" y="2048256"/>
            <a:ext cx="429768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347472" y="207568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stock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2514600" y="207568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Nourriture dispo (borne 0-20)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4297680" y="207568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274320" y="2395728"/>
            <a:ext cx="4297680" cy="329184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347472" y="242316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storage_empty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2514600" y="242316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Signal stock vide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4297680" y="242316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274320" y="2743200"/>
            <a:ext cx="429768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347472" y="27706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forager_idle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2514600" y="277063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Fourrageuse disponible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4297680" y="277063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274320" y="3090672"/>
            <a:ext cx="4297680" cy="329184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347472" y="311810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forager_resting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2514600" y="311810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Fourrageuse au repos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4297680" y="311810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274320" y="3438144"/>
            <a:ext cx="429768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347472" y="346557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forager_resting_waiting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2514600" y="346557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Attend reponse stockage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4297680" y="346557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274320" y="3785616"/>
            <a:ext cx="4297680" cy="329184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347472" y="381304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forager_dead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2514600" y="381304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Fourrageuse morte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297680" y="38130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274320" y="4133088"/>
            <a:ext cx="429768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347472" y="41605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carrier_idle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2514600" y="416052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Transporteuse disponible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4297680" y="416052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274320" y="4480560"/>
            <a:ext cx="4297680" cy="329184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347472" y="450799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Courier New"/>
              <a:buNone/>
            </a:pPr>
            <a:r>
              <a:rPr lang="en-US" sz="800" b="0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carrier_waiting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2514600" y="450799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Attend stockage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4297680" y="450799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274320" y="4846320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+ 3 autres (forager_starvation, carrier_starvation, carrier_resting_waiting)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4754880" y="59436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B45309"/>
                </a:solidFill>
                <a:latin typeface="Trebuchet MS"/>
                <a:ea typeface="Trebuchet MS"/>
                <a:cs typeface="Trebuchet MS"/>
                <a:sym typeface="Trebuchet MS"/>
              </a:rPr>
              <a:t>Transitions cles (22 au total)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4754880" y="1005840"/>
            <a:ext cx="4114800" cy="393192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4828032" y="103327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t_tick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4828032" y="1207008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queen_alive → queen_alive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7178040" y="1033272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garde: hunger &lt; 10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4754880" y="1426464"/>
            <a:ext cx="4114800" cy="3931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4828032" y="1453896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t_queen_dies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4828032" y="1627632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queen_alive → queen_dead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7178040" y="1453896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garde: hunger &gt;= 10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4754880" y="1847088"/>
            <a:ext cx="4114800" cy="393192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4828032" y="187452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t_feed_queen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4828032" y="2048256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queen_alive + stock → queen_alive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7178040" y="1874520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poids stock = 2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4754880" y="2267712"/>
            <a:ext cx="4114800" cy="3931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4828032" y="2295144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t_search_food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4828032" y="246888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forager_idle → forager_resting + stock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7178040" y="2295144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+2 jetons stock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4754880" y="2688336"/>
            <a:ext cx="4114800" cy="393192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4828032" y="271576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t_request_food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4828032" y="2889504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carrier_idle + stock → carrier_waiting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7178040" y="2715768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unites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4754880" y="3108960"/>
            <a:ext cx="4114800" cy="3931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4828032" y="313639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t_carrier_deliver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4828032" y="3310128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carrier_waiting → carrier_resting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7178040" y="3136392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FeedQueen implicite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4754880" y="3529584"/>
            <a:ext cx="4114800" cy="393192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4828032" y="3557016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t_forager_dies_idle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4828032" y="3730752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forager_idle + starvation(3) → forager_dead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7178040" y="3557016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famine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4754880" y="3950208"/>
            <a:ext cx="4114800" cy="39319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4828032" y="397764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t_egg_hatch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4828032" y="4151376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egg_incubating(2) → forager_idle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7178040" y="3977640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 carrier_idle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4754880" y="4370832"/>
            <a:ext cx="4114800" cy="393192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4828032" y="4398264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t_queen_sated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4828032" y="457200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queen_alive → queen_sated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7178040" y="4398264"/>
            <a:ext cx="16276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garde: hunger = 0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Marquage initial M0 et P-invariants (petri.scala)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365760" y="594360"/>
            <a:ext cx="8412480" cy="914400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4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ourier New"/>
              <a:buNone/>
            </a:pPr>
            <a:r>
              <a:rPr lang="en-US" sz="1400" b="1" i="0" u="none" strike="noStrike" cap="none">
                <a:solidFill>
                  <a:srgbClr val="14B8A6"/>
                </a:solidFill>
                <a:latin typeface="Courier New"/>
                <a:ea typeface="Courier New"/>
                <a:cs typeface="Courier New"/>
                <a:sym typeface="Courier New"/>
              </a:rPr>
              <a:t>M0  =  { queen_alive=1, forager_idle=1, carrier_idle=1 }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Correspond au demarrage de Simulation.scala : 1 Reine + 1 Fourrageuse + 1 Transporteuse, stock=0, hunger=5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365760" y="1600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rgbClr val="1A2B4A"/>
                </a:solidFill>
                <a:latin typeface="Trebuchet MS"/>
                <a:ea typeface="Trebuchet MS"/>
                <a:cs typeface="Trebuchet MS"/>
                <a:sym typeface="Trebuchet MS"/>
              </a:rPr>
              <a:t>P-invariants identifies dans petri.scala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274320" y="2084832"/>
            <a:ext cx="8595360" cy="603504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4"/>
          <p:cNvSpPr/>
          <p:nvPr/>
        </p:nvSpPr>
        <p:spPr>
          <a:xfrm>
            <a:off x="365760" y="2130552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ourier New"/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PI1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868680" y="213055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Trebuchet MS"/>
              <a:buNone/>
            </a:pPr>
            <a:r>
              <a:rPr lang="en-US" sz="10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Conservation de la Reine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2926080" y="2130552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M(queen_alive) + M(queen_dead) + M(queen_sated) = 1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6263640" y="213055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reine est toujours dans exactement un etat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274320" y="2743200"/>
            <a:ext cx="8595360" cy="60350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365760" y="278892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ourier New"/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PI2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868680" y="278892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Trebuchet MS"/>
              <a:buNone/>
            </a:pPr>
            <a:r>
              <a:rPr lang="en-US" sz="10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Conservation Fourrageuse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2926080" y="27889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M(forager_idle) + M(forager_resting) + M(forager_resting_waiting) + M(forager_dead) = 1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6263640" y="27889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Une fourrageuse est dans un seul etat a la fois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274320" y="3401568"/>
            <a:ext cx="8595360" cy="603504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365760" y="3447288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ourier New"/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PI3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868680" y="3447288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Trebuchet MS"/>
              <a:buNone/>
            </a:pPr>
            <a:r>
              <a:rPr lang="en-US" sz="10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Conservation Transporteuse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2926080" y="344728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M(carrier_idle) + M(carrier_waiting) + M(carrier_resting) + ... = 1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6263640" y="344728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Idem pour chaque transporteuse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274320" y="4059936"/>
            <a:ext cx="8595360" cy="60350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365760" y="4105656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00"/>
              <a:buFont typeface="Courier New"/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PI4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868680" y="4105656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Trebuchet MS"/>
              <a:buNone/>
            </a:pPr>
            <a:r>
              <a:rPr lang="en-US" sz="10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Borne du stock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2926080" y="4105656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0 &lt;= M(stock) &lt;= MaxCapacity=20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6263640" y="4105656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Semi-invariant : stock jamais negatif ni hors capacite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BFS (max 500 marquages) + detection deadlocks integres dans PetriNetMain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66E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5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05 — Verification des proprietes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Proprietes LTL formalisees (petri.scala — ltlProperties)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1A2B4A"/>
                </a:solidFill>
                <a:latin typeface="Trebuchet MS"/>
                <a:ea typeface="Trebuchet MS"/>
                <a:cs typeface="Trebuchet MS"/>
                <a:sym typeface="Trebuchet MS"/>
              </a:rPr>
              <a:t>5 proprietes LTL definies dans AntColonyPetriNet.ltlProperties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274320" y="1051560"/>
            <a:ext cx="859536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274320" y="1051560"/>
            <a:ext cx="64008" cy="731520"/>
          </a:xfrm>
          <a:prstGeom prst="rect">
            <a:avLst/>
          </a:prstGeom>
          <a:solidFill>
            <a:srgbClr val="0369A1"/>
          </a:solidFill>
          <a:ln w="12700" cap="flat" cmpd="sng">
            <a:solidFill>
              <a:srgbClr val="036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347472" y="1069848"/>
            <a:ext cx="640080" cy="256032"/>
          </a:xfrm>
          <a:prstGeom prst="rect">
            <a:avLst/>
          </a:prstGeom>
          <a:solidFill>
            <a:srgbClr val="0369A1"/>
          </a:solidFill>
          <a:ln w="12700" cap="flat" cmpd="sng">
            <a:solidFill>
              <a:srgbClr val="036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347472" y="106984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LTL1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1051560" y="107899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ourier New"/>
              <a:buNone/>
            </a:pPr>
            <a:r>
              <a:rPr lang="en-US" sz="950" b="1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G (queen_alive -&gt; F t_feed_queen franchissable)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1051560" y="1371600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 la Reine est vivante, elle sera toujours nourrie a terme — Valide si CarrierAntActor est vivant et stock non vide — transporteuse toutes les 2s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274320" y="1828800"/>
            <a:ext cx="859536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274320" y="1828800"/>
            <a:ext cx="64008" cy="7315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347472" y="1847088"/>
            <a:ext cx="640080" cy="256032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347472" y="184708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LTL2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1051560" y="185623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ourier New"/>
              <a:buNone/>
            </a:pPr>
            <a:r>
              <a:rPr lang="en-US" sz="950" b="1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G (forager_idle -&gt; F t_search_food franchissable)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1051560" y="2148840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Toute fourrageuse disponible finit toujours par chercher de la nourriture — Garantie par scheduleAtFixedRate(6s) dans ForagerAntActor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274320" y="2606040"/>
            <a:ext cx="859536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274320" y="2606040"/>
            <a:ext cx="64008" cy="731520"/>
          </a:xfrm>
          <a:prstGeom prst="rect">
            <a:avLst/>
          </a:prstGeom>
          <a:solidFill>
            <a:srgbClr val="0369A1"/>
          </a:solidFill>
          <a:ln w="12700" cap="flat" cmpd="sng">
            <a:solidFill>
              <a:srgbClr val="036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6"/>
          <p:cNvSpPr/>
          <p:nvPr/>
        </p:nvSpPr>
        <p:spPr>
          <a:xfrm>
            <a:off x="347472" y="2624328"/>
            <a:ext cx="640080" cy="256032"/>
          </a:xfrm>
          <a:prstGeom prst="rect">
            <a:avLst/>
          </a:prstGeom>
          <a:solidFill>
            <a:srgbClr val="0369A1"/>
          </a:solidFill>
          <a:ln w="12700" cap="flat" cmpd="sng">
            <a:solidFill>
              <a:srgbClr val="036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6"/>
          <p:cNvSpPr/>
          <p:nvPr/>
        </p:nvSpPr>
        <p:spPr>
          <a:xfrm>
            <a:off x="347472" y="262432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LTL3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1051560" y="263347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ourier New"/>
              <a:buNone/>
            </a:pPr>
            <a:r>
              <a:rPr lang="en-US" sz="950" b="1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G (M(stock) &gt;= 0)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1051560" y="2926080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stock ne devient jamais negatif — P-invariant PI4 — structurellement vrai, verifie dans checkPInvariants()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274320" y="3383280"/>
            <a:ext cx="859536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6"/>
          <p:cNvSpPr/>
          <p:nvPr/>
        </p:nvSpPr>
        <p:spPr>
          <a:xfrm>
            <a:off x="274320" y="3383280"/>
            <a:ext cx="64008" cy="73152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6"/>
          <p:cNvSpPr/>
          <p:nvPr/>
        </p:nvSpPr>
        <p:spPr>
          <a:xfrm>
            <a:off x="347472" y="3401568"/>
            <a:ext cx="640080" cy="256032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347472" y="340156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LTL4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1051560" y="341071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ourier New"/>
              <a:buNone/>
            </a:pPr>
            <a:r>
              <a:rPr lang="en-US" sz="950" b="1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G ((forager_dead AND carrier_dead) -&gt; F queen_dead)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1051560" y="3703320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 toutes les fourmis meurent, la Reine finit par mourir de faim — Verifiable par exploration BFS de l'espace d'etats (reachabilityGraph)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6"/>
          <p:cNvSpPr/>
          <p:nvPr/>
        </p:nvSpPr>
        <p:spPr>
          <a:xfrm>
            <a:off x="274320" y="4160520"/>
            <a:ext cx="64008" cy="731520"/>
          </a:xfrm>
          <a:prstGeom prst="rect">
            <a:avLst/>
          </a:prstGeom>
          <a:solidFill>
            <a:srgbClr val="0369A1"/>
          </a:solidFill>
          <a:ln w="12700" cap="flat" cmpd="sng">
            <a:solidFill>
              <a:srgbClr val="036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6"/>
          <p:cNvSpPr/>
          <p:nvPr/>
        </p:nvSpPr>
        <p:spPr>
          <a:xfrm>
            <a:off x="347472" y="4178808"/>
            <a:ext cx="640080" cy="256032"/>
          </a:xfrm>
          <a:prstGeom prst="rect">
            <a:avLst/>
          </a:prstGeom>
          <a:solidFill>
            <a:srgbClr val="0369A1"/>
          </a:solidFill>
          <a:ln w="12700" cap="flat" cmpd="sng">
            <a:solidFill>
              <a:srgbClr val="0369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347472" y="417880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LTL5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1051560" y="418795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ourier New"/>
              <a:buNone/>
            </a:pPr>
            <a:r>
              <a:rPr lang="en-US" sz="950" b="1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G (NOT deadlock  OR  queen_dead)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1051560" y="4480560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systeme ne bloque jamais tant que la Reine est vivante — Deadlock uniquement atteignable si queen_dead in M — verifie par deadlocks()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7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Absence de deadlock — analyse formelle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365760" y="62179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2B4A"/>
                </a:solidFill>
                <a:latin typeface="Trebuchet MS"/>
                <a:ea typeface="Trebuchet MS"/>
                <a:cs typeface="Trebuchet MS"/>
                <a:sym typeface="Trebuchet MS"/>
              </a:rPr>
              <a:t>Un deadlock = marquage ou aucune transition n'est franchissable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7"/>
          <p:cNvSpPr/>
          <p:nvPr/>
        </p:nvSpPr>
        <p:spPr>
          <a:xfrm>
            <a:off x="365760" y="1207008"/>
            <a:ext cx="4114800" cy="1508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7"/>
          <p:cNvSpPr/>
          <p:nvPr/>
        </p:nvSpPr>
        <p:spPr>
          <a:xfrm>
            <a:off x="365760" y="1207008"/>
            <a:ext cx="64008" cy="15087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7"/>
          <p:cNvSpPr/>
          <p:nvPr/>
        </p:nvSpPr>
        <p:spPr>
          <a:xfrm>
            <a:off x="521208" y="1298448"/>
            <a:ext cx="38679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t_tick toujours disponible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521208" y="1682496"/>
            <a:ext cx="3867912" cy="94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t_tick est franchissable tant que M(queen_alive)=1 et hunger &lt; 10. La Reine recoit un Tick toutes les 4s via scheduleAtFixedRate.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4754880" y="1207008"/>
            <a:ext cx="4114800" cy="1508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4754880" y="1207008"/>
            <a:ext cx="64008" cy="15087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7"/>
          <p:cNvSpPr/>
          <p:nvPr/>
        </p:nvSpPr>
        <p:spPr>
          <a:xfrm>
            <a:off x="4910328" y="1298448"/>
            <a:ext cx="38679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t_search_food garantie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4910328" y="1682496"/>
            <a:ext cx="3867912" cy="94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ForagerAntActor s'envoie SearchFood toutes les 6s. M(forager_idle)&gt;=1 → t_search_food franchissable → stock s'approvisionne.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365760" y="2898648"/>
            <a:ext cx="4114800" cy="1508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7"/>
          <p:cNvSpPr/>
          <p:nvPr/>
        </p:nvSpPr>
        <p:spPr>
          <a:xfrm>
            <a:off x="365760" y="2898648"/>
            <a:ext cx="64008" cy="150876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7"/>
          <p:cNvSpPr/>
          <p:nvPr/>
        </p:nvSpPr>
        <p:spPr>
          <a:xfrm>
            <a:off x="521208" y="2990088"/>
            <a:ext cx="38679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t_request_food reactif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/>
          <p:nvPr/>
        </p:nvSpPr>
        <p:spPr>
          <a:xfrm>
            <a:off x="521208" y="3374136"/>
            <a:ext cx="3867912" cy="94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CarrierAntActor s'envoie SearchFood toutes les 2s. Tant que stock &gt; 0 → t_request_food → FeedQueen → hunger reduit.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4754880" y="2898648"/>
            <a:ext cx="4114800" cy="1508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7"/>
          <p:cNvSpPr/>
          <p:nvPr/>
        </p:nvSpPr>
        <p:spPr>
          <a:xfrm>
            <a:off x="4754880" y="2898648"/>
            <a:ext cx="64008" cy="1508760"/>
          </a:xfrm>
          <a:prstGeom prst="rect">
            <a:avLst/>
          </a:prstGeom>
          <a:solidFill>
            <a:srgbClr val="B45309"/>
          </a:solidFill>
          <a:ln w="12700" cap="flat" cmpd="sng">
            <a:solidFill>
              <a:srgbClr val="B453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7"/>
          <p:cNvSpPr/>
          <p:nvPr/>
        </p:nvSpPr>
        <p:spPr>
          <a:xfrm>
            <a:off x="4910328" y="2990088"/>
            <a:ext cx="38679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Trebuchet MS"/>
                <a:ea typeface="Trebuchet MS"/>
                <a:cs typeface="Trebuchet MS"/>
                <a:sym typeface="Trebuchet MS"/>
              </a:rPr>
              <a:t>Seul etat terminal = queen_dead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4910328" y="3374136"/>
            <a:ext cx="3867912" cy="94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Quand hunger &gt; MaxHunger=10 → t_queen_dies → queen_dead. C'est la fin normale. Ce n'est pas un deadlock — LTL5 : G (NOT deadlock OR queen_dead).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274320" y="4553712"/>
            <a:ext cx="8595360" cy="384048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7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 NOT deadlock  OR  queen_dead  —  verifie par net.deadlocks(500) dans PetriNetMain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66E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8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06 — Simulation comparee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9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Simulation comparee — simulation_log.jsonl vs modele formel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274320" y="594360"/>
            <a:ext cx="4754880" cy="347472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9"/>
          <p:cNvSpPr/>
          <p:nvPr/>
        </p:nvSpPr>
        <p:spPr>
          <a:xfrm>
            <a:off x="365760" y="61264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Extrait de simulation_log.jsonl (reel)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274320" y="941832"/>
            <a:ext cx="4754880" cy="320040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9"/>
          <p:cNvSpPr/>
          <p:nvPr/>
        </p:nvSpPr>
        <p:spPr>
          <a:xfrm>
            <a:off x="365760" y="100584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{"actor":"Reine","event":"Tick","hunger":"6"}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9"/>
          <p:cNvSpPr/>
          <p:nvPr/>
        </p:nvSpPr>
        <p:spPr>
          <a:xfrm>
            <a:off x="365760" y="129844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5DCAA5"/>
                </a:solidFill>
                <a:latin typeface="Courier New"/>
                <a:ea typeface="Courier New"/>
                <a:cs typeface="Courier New"/>
                <a:sym typeface="Courier New"/>
              </a:rPr>
              <a:t>{"actor":"Fourrageuse-1","event":"SearchFood","found":"3"}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365760" y="159105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{"actor":"Stockage","event":"DepositFood","after":"3"}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365760" y="1883664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5DCAA5"/>
                </a:solidFill>
                <a:latin typeface="Courier New"/>
                <a:ea typeface="Courier New"/>
                <a:cs typeface="Courier New"/>
                <a:sym typeface="Courier New"/>
              </a:rPr>
              <a:t>{"actor":"Stockage","event":"ProvideFood","after":"1"}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365760" y="21762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{"actor":"Transporteuse-1","event":"DeliverFood","amount":"2"}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365760" y="246888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5DCAA5"/>
                </a:solidFill>
                <a:latin typeface="Courier New"/>
                <a:ea typeface="Courier New"/>
                <a:cs typeface="Courier New"/>
                <a:sym typeface="Courier New"/>
              </a:rPr>
              <a:t>{"actor":"Reine","event":"FeedQueen","hunger":"4"}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365760" y="276148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{"actor":"Stockage","event":"StorageEmpty","stock":"0"}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365760" y="305409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5DCAA5"/>
                </a:solidFill>
                <a:latin typeface="Courier New"/>
                <a:ea typeface="Courier New"/>
                <a:cs typeface="Courier New"/>
                <a:sym typeface="Courier New"/>
              </a:rPr>
              <a:t>{"actor":"Transporteuse-1","event":"Starvation","starvation":"1"}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365760" y="3346704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{"actor":"Reine","event":"SpawnAnt","type":"Forager"}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365760" y="363931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750"/>
              <a:buFont typeface="Courier New"/>
              <a:buNone/>
            </a:pPr>
            <a:r>
              <a:rPr lang="en-US" sz="750" b="0" i="0" u="none" strike="noStrike" cap="none">
                <a:solidFill>
                  <a:srgbClr val="5DCAA5"/>
                </a:solidFill>
                <a:latin typeface="Courier New"/>
                <a:ea typeface="Courier New"/>
                <a:cs typeface="Courier New"/>
                <a:sym typeface="Courier New"/>
              </a:rPr>
              <a:t>{"actor":"Oeuf","event":"EggHatched","type":"Carrier"}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9"/>
          <p:cNvSpPr/>
          <p:nvPr/>
        </p:nvSpPr>
        <p:spPr>
          <a:xfrm>
            <a:off x="5212080" y="594360"/>
            <a:ext cx="3657600" cy="347472"/>
          </a:xfrm>
          <a:prstGeom prst="rect">
            <a:avLst/>
          </a:prstGeom>
          <a:solidFill>
            <a:srgbClr val="1A2B4A"/>
          </a:solidFill>
          <a:ln w="12700" cap="flat" cmpd="sng">
            <a:solidFill>
              <a:srgbClr val="1A2B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9"/>
          <p:cNvSpPr/>
          <p:nvPr/>
        </p:nvSpPr>
        <p:spPr>
          <a:xfrm>
            <a:off x="5303520" y="612648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Prediction Petri vs Akka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5212080" y="941832"/>
            <a:ext cx="3657600" cy="365760"/>
          </a:xfrm>
          <a:prstGeom prst="rect">
            <a:avLst/>
          </a:prstGeom>
          <a:solidFill>
            <a:srgbClr val="1A2B4A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9"/>
          <p:cNvSpPr/>
          <p:nvPr/>
        </p:nvSpPr>
        <p:spPr>
          <a:xfrm>
            <a:off x="5285232" y="97840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Prediction du reseau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7059168" y="97840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Observation Akka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9"/>
          <p:cNvSpPr/>
          <p:nvPr/>
        </p:nvSpPr>
        <p:spPr>
          <a:xfrm>
            <a:off x="8549640" y="9784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OK 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9"/>
          <p:cNvSpPr/>
          <p:nvPr/>
        </p:nvSpPr>
        <p:spPr>
          <a:xfrm>
            <a:off x="5212080" y="1325880"/>
            <a:ext cx="365760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9"/>
          <p:cNvSpPr/>
          <p:nvPr/>
        </p:nvSpPr>
        <p:spPr>
          <a:xfrm>
            <a:off x="5285232" y="136245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t_search_food si forager_idle=1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9"/>
          <p:cNvSpPr/>
          <p:nvPr/>
        </p:nvSpPr>
        <p:spPr>
          <a:xfrm>
            <a:off x="7059168" y="136245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Fourrageuse part toutes les 6s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9"/>
          <p:cNvSpPr/>
          <p:nvPr/>
        </p:nvSpPr>
        <p:spPr>
          <a:xfrm>
            <a:off x="8549640" y="136245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Oui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9"/>
          <p:cNvSpPr/>
          <p:nvPr/>
        </p:nvSpPr>
        <p:spPr>
          <a:xfrm>
            <a:off x="5212080" y="1709928"/>
            <a:ext cx="3657600" cy="365760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9"/>
          <p:cNvSpPr/>
          <p:nvPr/>
        </p:nvSpPr>
        <p:spPr>
          <a:xfrm>
            <a:off x="5285232" y="174650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t_deposit_food → stock+n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9"/>
          <p:cNvSpPr/>
          <p:nvPr/>
        </p:nvSpPr>
        <p:spPr>
          <a:xfrm>
            <a:off x="7059168" y="174650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DepositFood(3) → stock 0→3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9"/>
          <p:cNvSpPr/>
          <p:nvPr/>
        </p:nvSpPr>
        <p:spPr>
          <a:xfrm>
            <a:off x="8549640" y="17465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Oui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9"/>
          <p:cNvSpPr/>
          <p:nvPr/>
        </p:nvSpPr>
        <p:spPr>
          <a:xfrm>
            <a:off x="5212080" y="2093976"/>
            <a:ext cx="365760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9"/>
          <p:cNvSpPr/>
          <p:nvPr/>
        </p:nvSpPr>
        <p:spPr>
          <a:xfrm>
            <a:off x="5285232" y="213055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t_request_food si stock&gt;=2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9"/>
          <p:cNvSpPr/>
          <p:nvPr/>
        </p:nvSpPr>
        <p:spPr>
          <a:xfrm>
            <a:off x="7059168" y="213055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RequestFood(2) → FoodReady(2)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9"/>
          <p:cNvSpPr/>
          <p:nvPr/>
        </p:nvSpPr>
        <p:spPr>
          <a:xfrm>
            <a:off x="8549640" y="213055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Oui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9"/>
          <p:cNvSpPr/>
          <p:nvPr/>
        </p:nvSpPr>
        <p:spPr>
          <a:xfrm>
            <a:off x="5212080" y="2478024"/>
            <a:ext cx="3657600" cy="365760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9"/>
          <p:cNvSpPr/>
          <p:nvPr/>
        </p:nvSpPr>
        <p:spPr>
          <a:xfrm>
            <a:off x="5285232" y="251460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t_feed_queen → hunger-2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9"/>
          <p:cNvSpPr/>
          <p:nvPr/>
        </p:nvSpPr>
        <p:spPr>
          <a:xfrm>
            <a:off x="7059168" y="251460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FeedQueen(2) → hunger 6→4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9"/>
          <p:cNvSpPr/>
          <p:nvPr/>
        </p:nvSpPr>
        <p:spPr>
          <a:xfrm>
            <a:off x="8549640" y="25146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Oui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5212080" y="2862072"/>
            <a:ext cx="365760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9"/>
          <p:cNvSpPr/>
          <p:nvPr/>
        </p:nvSpPr>
        <p:spPr>
          <a:xfrm>
            <a:off x="5285232" y="289864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t_queen_dies si hunger&gt;10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9"/>
          <p:cNvSpPr/>
          <p:nvPr/>
        </p:nvSpPr>
        <p:spPr>
          <a:xfrm>
            <a:off x="7059168" y="28986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Behaviors.stopped si next&gt;MaxHunger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8549640" y="28986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Oui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5212080" y="3246120"/>
            <a:ext cx="3657600" cy="365760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9"/>
          <p:cNvSpPr/>
          <p:nvPr/>
        </p:nvSpPr>
        <p:spPr>
          <a:xfrm>
            <a:off x="5285232" y="328269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PI4 : stock in [0,20]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9"/>
          <p:cNvSpPr/>
          <p:nvPr/>
        </p:nvSpPr>
        <p:spPr>
          <a:xfrm>
            <a:off x="7059168" y="328269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Min=0, Max=20 (checkStorage)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8549640" y="328269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Oui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9"/>
          <p:cNvSpPr/>
          <p:nvPr/>
        </p:nvSpPr>
        <p:spPr>
          <a:xfrm>
            <a:off x="5212080" y="3630168"/>
            <a:ext cx="365760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9"/>
          <p:cNvSpPr/>
          <p:nvPr/>
        </p:nvSpPr>
        <p:spPr>
          <a:xfrm>
            <a:off x="5285232" y="366674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PI1 : queen in 1 etat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7059168" y="366674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seule QueenActor active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8549640" y="366674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Oui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5212080" y="4014216"/>
            <a:ext cx="3657600" cy="365760"/>
          </a:xfrm>
          <a:prstGeom prst="rect">
            <a:avLst/>
          </a:prstGeom>
          <a:solidFill>
            <a:srgbClr val="E8F4F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9"/>
          <p:cNvSpPr/>
          <p:nvPr/>
        </p:nvSpPr>
        <p:spPr>
          <a:xfrm>
            <a:off x="5285232" y="405079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EggHatch apres 2 Ticks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7059168" y="40507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EggActor s'arrete apres cyclesLeft=0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8549640" y="40507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Oui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Toutes les predictions du reseau de Petri sont confirmees par les logs JSON de la simulation Akka.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0"/>
          <p:cNvSpPr/>
          <p:nvPr/>
        </p:nvSpPr>
        <p:spPr>
          <a:xfrm>
            <a:off x="0" y="3611880"/>
            <a:ext cx="9144000" cy="155448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20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0"/>
          <p:cNvSpPr/>
          <p:nvPr/>
        </p:nvSpPr>
        <p:spPr>
          <a:xfrm>
            <a:off x="502920" y="1188720"/>
            <a:ext cx="201168" cy="201168"/>
          </a:xfrm>
          <a:prstGeom prst="ellipse">
            <a:avLst/>
          </a:prstGeom>
          <a:solidFill>
            <a:srgbClr val="14B8A6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0"/>
          <p:cNvSpPr/>
          <p:nvPr/>
        </p:nvSpPr>
        <p:spPr>
          <a:xfrm>
            <a:off x="822960" y="1161288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5 acteurs Akka modelisant une colonie de fourmis critique (QueenActor, ForagerAntActor, CarrierAntActor, EggActor, StorageActor)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0"/>
          <p:cNvSpPr/>
          <p:nvPr/>
        </p:nvSpPr>
        <p:spPr>
          <a:xfrm>
            <a:off x="502920" y="1645920"/>
            <a:ext cx="201168" cy="201168"/>
          </a:xfrm>
          <a:prstGeom prst="ellipse">
            <a:avLst/>
          </a:prstGeom>
          <a:solidFill>
            <a:srgbClr val="14B8A6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0"/>
          <p:cNvSpPr/>
          <p:nvPr/>
        </p:nvSpPr>
        <p:spPr>
          <a:xfrm>
            <a:off x="822960" y="1618488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7 invariants metier verifies en temps reel dans Invariants.scala + logs JSON dans simulation_log.jsonl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502920" y="2103120"/>
            <a:ext cx="201168" cy="201168"/>
          </a:xfrm>
          <a:prstGeom prst="ellipse">
            <a:avLst/>
          </a:prstGeom>
          <a:solidFill>
            <a:srgbClr val="14B8A6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0"/>
          <p:cNvSpPr/>
          <p:nvPr/>
        </p:nvSpPr>
        <p:spPr>
          <a:xfrm>
            <a:off x="822960" y="2075688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Reseau de Petri complet dans petri.scala : 17 places, 22 transitions, 4 P-invariants, BFS 500 etats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502920" y="2560320"/>
            <a:ext cx="201168" cy="201168"/>
          </a:xfrm>
          <a:prstGeom prst="ellipse">
            <a:avLst/>
          </a:prstGeom>
          <a:solidFill>
            <a:srgbClr val="14B8A6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0"/>
          <p:cNvSpPr/>
          <p:nvPr/>
        </p:nvSpPr>
        <p:spPr>
          <a:xfrm>
            <a:off x="822960" y="2532888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5 proprietes LTL formalisees : 2 de surete, 3 de vivacite — deadlock uniquement si queen_dead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502920" y="3017520"/>
            <a:ext cx="201168" cy="201168"/>
          </a:xfrm>
          <a:prstGeom prst="ellipse">
            <a:avLst/>
          </a:prstGeom>
          <a:solidFill>
            <a:srgbClr val="14B8A6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0"/>
          <p:cNvSpPr/>
          <p:nvPr/>
        </p:nvSpPr>
        <p:spPr>
          <a:xfrm>
            <a:off x="822960" y="2990088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Simulation comparee : tous les comportements Akka confirment les predictions du modele formel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3802600" y="3970202"/>
            <a:ext cx="4572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Merci — Questions ?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0"/>
          <p:cNvSpPr txBox="1"/>
          <p:nvPr/>
        </p:nvSpPr>
        <p:spPr>
          <a:xfrm>
            <a:off x="164600" y="3681438"/>
            <a:ext cx="3933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Réalisé par: Lina Badaoui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Adam Swizka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Hénoch Xu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Aline Kim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Hyacinthe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2231</Words>
  <Application>Microsoft Office PowerPoint</Application>
  <PresentationFormat>On-screen Show (16:9)</PresentationFormat>
  <Paragraphs>355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Lina Bad</cp:lastModifiedBy>
  <cp:revision>1</cp:revision>
  <dcterms:created xsi:type="dcterms:W3CDTF">2026-04-13T16:51:34Z</dcterms:created>
  <dcterms:modified xsi:type="dcterms:W3CDTF">2026-04-14T20:53:38Z</dcterms:modified>
</cp:coreProperties>
</file>